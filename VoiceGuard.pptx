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07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4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AI voice-clone emergency scams, on the phone itself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532120" y="1143000"/>
            <a:ext cx="0" cy="457200"/>
          </a:xfrm>
          <a:prstGeom prst="line">
            <a:avLst/>
          </a:prstGeom>
          <a:noFill/>
          <a:ln w="38100">
            <a:solidFill>
              <a:srgbClr val="5B47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87568" y="914400"/>
            <a:ext cx="0" cy="914400"/>
          </a:xfrm>
          <a:prstGeom prst="line">
            <a:avLst/>
          </a:prstGeom>
          <a:noFill/>
          <a:ln w="38100">
            <a:solidFill>
              <a:srgbClr val="5B47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43016" y="1074420"/>
            <a:ext cx="0" cy="594360"/>
          </a:xfrm>
          <a:prstGeom prst="line">
            <a:avLst/>
          </a:prstGeom>
          <a:noFill/>
          <a:ln w="38100">
            <a:solidFill>
              <a:srgbClr val="5B47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98464" y="822960"/>
            <a:ext cx="0" cy="1097280"/>
          </a:xfrm>
          <a:prstGeom prst="line">
            <a:avLst/>
          </a:prstGeom>
          <a:noFill/>
          <a:ln w="38100">
            <a:solidFill>
              <a:srgbClr val="5B47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53912" y="1005840"/>
            <a:ext cx="0" cy="731520"/>
          </a:xfrm>
          <a:prstGeom prst="line">
            <a:avLst/>
          </a:prstGeom>
          <a:noFill/>
          <a:ln w="38100">
            <a:solidFill>
              <a:srgbClr val="5B47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868680"/>
            <a:ext cx="0" cy="1005840"/>
          </a:xfrm>
          <a:prstGeom prst="line">
            <a:avLst/>
          </a:prstGeom>
          <a:noFill/>
          <a:ln w="38100">
            <a:solidFill>
              <a:srgbClr val="5B47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1120140"/>
            <a:ext cx="0" cy="502920"/>
          </a:xfrm>
          <a:prstGeom prst="line">
            <a:avLst/>
          </a:prstGeom>
          <a:noFill/>
          <a:ln w="38100">
            <a:solidFill>
              <a:srgbClr val="5B4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0256" y="800100"/>
            <a:ext cx="0" cy="1143000"/>
          </a:xfrm>
          <a:prstGeom prst="line">
            <a:avLst/>
          </a:prstGeom>
          <a:noFill/>
          <a:ln w="38100">
            <a:solidFill>
              <a:srgbClr val="5B47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75704" y="1051560"/>
            <a:ext cx="0" cy="640080"/>
          </a:xfrm>
          <a:prstGeom prst="line">
            <a:avLst/>
          </a:prstGeom>
          <a:noFill/>
          <a:ln w="38100">
            <a:solidFill>
              <a:srgbClr val="5B47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10515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10515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0376" y="10515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10515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91272" y="10515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0515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02168" y="10515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57616" y="10515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13064" y="10515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32120" y="2057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B4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VOICE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2057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VOICE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154680"/>
            <a:ext cx="256032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" y="3154680"/>
            <a:ext cx="64008" cy="86868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3246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&amp; Cybersecurity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3154680"/>
            <a:ext cx="256032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73552" y="3154680"/>
            <a:ext cx="64008" cy="86868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47872" y="3246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 cloned voice before money moves.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0" y="3154680"/>
            <a:ext cx="256032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16752" y="3154680"/>
            <a:ext cx="64008" cy="86868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91072" y="3246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291072" y="35204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speed &amp; actionable alerts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297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hack smith  •  Syed Soban Warsi (Leader)  •  Aryansh Garg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 voice is enough to make people act before they verify.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50876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371600"/>
            <a:ext cx="64008" cy="150876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5179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874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seconds of audio from Instagram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voicemail is enough to clone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50876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371600"/>
            <a:ext cx="64008" cy="150876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15179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1874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voice triggers panic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pay before verifying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parents and elders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way to check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150876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16752" y="1371600"/>
            <a:ext cx="64008" cy="150876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91072" y="151790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1874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 everyday person tell a real voice from a cloned one during a live call?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11582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8640" y="3429000"/>
            <a:ext cx="1158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clip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761744" y="36347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6336" y="3429000"/>
            <a:ext cx="11582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926336" y="3429000"/>
            <a:ext cx="1158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voice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39440" y="36347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04032" y="3429000"/>
            <a:ext cx="11582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304032" y="3429000"/>
            <a:ext cx="1158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"Accident" call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17136" y="36347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3429000"/>
            <a:ext cx="11582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681728" y="3429000"/>
            <a:ext cx="1158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894832" y="36347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59424" y="3429000"/>
            <a:ext cx="11582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059424" y="3429000"/>
            <a:ext cx="1158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72528" y="36347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37120" y="3429000"/>
            <a:ext cx="115824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437120" y="3429000"/>
            <a:ext cx="1158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lost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The Gap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097280"/>
            <a:ext cx="64008" cy="192024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2435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blockers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60020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Truecaller and similar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new numbers, spoofed IDs and WhatsApp calls slip through. They judge the number, not the voice.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097280"/>
            <a:ext cx="64008" cy="192024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2435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detectors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60020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uploaded call audio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network delay during a live call, and a privacy risk for private family conversations.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560320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16752" y="1097280"/>
            <a:ext cx="64008" cy="192024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1072" y="12435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safe words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1600200"/>
            <a:ext cx="214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code to verify a caller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panicking parents forget to ask during a crisis.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280160" y="3337560"/>
            <a:ext cx="6583680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61872" y="3337560"/>
            <a:ext cx="64008" cy="91440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36192" y="3483864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384048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checks the voice itself, locally and instantly, at the moment of the call. VoiceGuard does.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voice before acting on the panic.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325880"/>
            <a:ext cx="64008" cy="182880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472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82880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sounds like my child, I must send money.”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“VoiceGuard flagged this voice. I will hang up and call back.”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393192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325880"/>
            <a:ext cx="64008" cy="182880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9472" y="147218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19472" y="182880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runs on the device in real time. No audio is uploaded.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alert fires only when a synthetic voice and an emergency payment demand appear together.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419149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" y="3566160"/>
            <a:ext cx="1419149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call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31797" y="377190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05533" y="3566160"/>
            <a:ext cx="1419149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205533" y="3566160"/>
            <a:ext cx="1419149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analysis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88690" y="377190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62426" y="3566160"/>
            <a:ext cx="1419149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862426" y="3566160"/>
            <a:ext cx="1419149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check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45582" y="377190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19318" y="3566160"/>
            <a:ext cx="1419149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519318" y="3566160"/>
            <a:ext cx="1419149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02475" y="377190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6211" y="3566160"/>
            <a:ext cx="1419149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176211" y="3566160"/>
            <a:ext cx="1419149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961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Two-Layer Check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signals, fused into one decision.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frame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67840" y="20345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3288" y="182880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923288" y="182880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+ urgency checks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2488" y="20345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7936" y="182880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297936" y="182880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17136" y="20345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182880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72584" y="182880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≥ 55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1784" y="20345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47232" y="182880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47232" y="182880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66432" y="203454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1880" y="182880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421880" y="182880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926080"/>
            <a:ext cx="2560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" y="2926080"/>
            <a:ext cx="64008" cy="137160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30723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layer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3429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flatness • Centroid variance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jitter • Breathing tremor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2926080"/>
            <a:ext cx="2560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73552" y="2926080"/>
            <a:ext cx="64008" cy="137160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47872" y="30723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layer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3429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• Hospital • Send money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tell dad”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2926080"/>
            <a:ext cx="2560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16752" y="2926080"/>
            <a:ext cx="64008" cy="137160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1072" y="30723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layer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429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signals required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≥ 55 triggers the warning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325880"/>
            <a:ext cx="64008" cy="713232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417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&amp; Private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69164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is processed in memory, then discarded.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8404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325880"/>
            <a:ext cx="64008" cy="713232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10912" y="1417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Dual-Signal Scoring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10912" y="169164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synthetic voice AND distress language.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38404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" y="2148840"/>
            <a:ext cx="64008" cy="713232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22402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Actionable Alert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251460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warning: hang up and dial directly.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38404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36592" y="2148840"/>
            <a:ext cx="64008" cy="713232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10912" y="22402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10912" y="251460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 issue within 2-3 seconds of speech.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38404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2971800"/>
            <a:ext cx="64008" cy="713232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30632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Check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333756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missing pitch jitter and tremors.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38404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2971800"/>
            <a:ext cx="64008" cy="713232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10912" y="30632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Check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10912" y="333756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scan for phrases like “send money”.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38404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" y="3794760"/>
            <a:ext cx="64008" cy="713232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3886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Frame-by-Frame Processing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" y="416052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ms frames at 16 kHz, rolling buffer.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54880" y="3794760"/>
            <a:ext cx="3840480" cy="713232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36592" y="3794760"/>
            <a:ext cx="64008" cy="713232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10912" y="38862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Everyone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010912" y="416052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users, parents and elders.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branches feed one fusion scorer, entirely on-device.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2344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1234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Audio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 kHz)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2194560"/>
            <a:ext cx="12344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057400" y="2194560"/>
            <a:ext cx="1234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Buffer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 ms frames)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371600"/>
            <a:ext cx="20116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4904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A: FFT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flatness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variance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3017520"/>
            <a:ext cx="20116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749040" y="3017520"/>
            <a:ext cx="20116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B: Keyword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tokens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11430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26480" y="2194560"/>
            <a:ext cx="11430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2194560"/>
            <a:ext cx="1051560" cy="822960"/>
          </a:xfrm>
          <a:prstGeom prst="roundRect">
            <a:avLst>
              <a:gd name="adj" fmla="val 16667"/>
            </a:avLst>
          </a:prstGeom>
          <a:solidFill>
            <a:srgbClr val="5B47B8"/>
          </a:solidFill>
          <a:ln w="9525">
            <a:solidFill>
              <a:srgbClr val="5B47B8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543800" y="2194560"/>
            <a:ext cx="10515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83080" y="2606040"/>
            <a:ext cx="274320" cy="0"/>
          </a:xfrm>
          <a:prstGeom prst="line">
            <a:avLst/>
          </a:prstGeom>
          <a:noFill/>
          <a:ln w="22225">
            <a:solidFill>
              <a:srgbClr val="5B47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3291840" y="1783080"/>
            <a:ext cx="457200" cy="822960"/>
          </a:xfrm>
          <a:prstGeom prst="line">
            <a:avLst/>
          </a:prstGeom>
          <a:noFill/>
          <a:ln w="22225">
            <a:solidFill>
              <a:srgbClr val="5B47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91840" y="2606040"/>
            <a:ext cx="457200" cy="822960"/>
          </a:xfrm>
          <a:prstGeom prst="line">
            <a:avLst/>
          </a:prstGeom>
          <a:noFill/>
          <a:ln w="22225">
            <a:solidFill>
              <a:srgbClr val="5B47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60720" y="1783080"/>
            <a:ext cx="365760" cy="640080"/>
          </a:xfrm>
          <a:prstGeom prst="line">
            <a:avLst/>
          </a:prstGeom>
          <a:noFill/>
          <a:ln w="22225">
            <a:solidFill>
              <a:srgbClr val="5B47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5760720" y="2788920"/>
            <a:ext cx="365760" cy="640080"/>
          </a:xfrm>
          <a:prstGeom prst="line">
            <a:avLst/>
          </a:prstGeom>
          <a:noFill/>
          <a:ln w="22225">
            <a:solidFill>
              <a:srgbClr val="5B47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69480" y="2606040"/>
            <a:ext cx="274320" cy="0"/>
          </a:xfrm>
          <a:prstGeom prst="line">
            <a:avLst/>
          </a:prstGeom>
          <a:noFill/>
          <a:ln w="22225">
            <a:solidFill>
              <a:srgbClr val="5B47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023360"/>
            <a:ext cx="8046720" cy="621792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" y="4023360"/>
            <a:ext cx="64008" cy="621792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4114800"/>
            <a:ext cx="7635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rule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4389120"/>
            <a:ext cx="7635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0.55 × Voice Artifacts + 0.45 × Distress Score.   Risk ≥ 55 triggers the warning alert.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today, on-device runtime next.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80160"/>
            <a:ext cx="64008" cy="50292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2801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NumPy  —  Signal calculations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847088"/>
            <a:ext cx="804672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847088"/>
            <a:ext cx="64008" cy="50292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847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analysis (target)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18470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/ FFT  —  Spectral feature extraction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414016"/>
            <a:ext cx="804672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" y="2414016"/>
            <a:ext cx="64008" cy="50292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24140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runtime (target)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241401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/ ONNX Runtime  —  Quantized on-device inference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980944"/>
            <a:ext cx="804672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2980944"/>
            <a:ext cx="64008" cy="50292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29809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(planned)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298094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Android Native  —  Call overlay permissions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547872"/>
            <a:ext cx="804672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3547872"/>
            <a:ext cx="64008" cy="50292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3547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35478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voiceguard_demo.py  —  Exit code 0 for clean calls, 1 for detected scams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" y="4114800"/>
            <a:ext cx="64008" cy="50292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41148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moment → Local analysis → On-device runtime → Instant alert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Limitations &amp; Impact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2514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097280"/>
            <a:ext cx="64008" cy="251460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2435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6002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Python / NumPy prototype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FFT features, no cloud needed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/ ONNX Runtime for on-device inference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2-3 second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2514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097280"/>
            <a:ext cx="64008" cy="251460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2435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6002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uses simulated audio; real-call accuracy is still to be validated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scan needs on-device speech-to-text and wider language coverage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clones may leave fewer acoustic cues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560320" cy="25146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16752" y="1097280"/>
            <a:ext cx="64008" cy="251460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1072" y="124358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160020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panic fraud at the moment of the call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privacy trade-off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non-technical users and elders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and families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3794760"/>
            <a:ext cx="6583680" cy="77724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61872" y="3794760"/>
            <a:ext cx="64008" cy="77724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36192" y="388620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416052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defense to the moment of the scam: warn before the money leaves the account.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protection on every call.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0"/>
          </a:xfrm>
          <a:prstGeom prst="line">
            <a:avLst/>
          </a:prstGeom>
          <a:noFill/>
          <a:ln w="25400">
            <a:solidFill>
              <a:srgbClr val="5B47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554480"/>
            <a:ext cx="365760" cy="365760"/>
          </a:xfrm>
          <a:prstGeom prst="ellipse">
            <a:avLst/>
          </a:prstGeom>
          <a:solidFill>
            <a:srgbClr val="5B47B8"/>
          </a:solidFill>
          <a:ln w="38100">
            <a:solidFill>
              <a:srgbClr val="F8F9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459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65760" cy="365760"/>
          </a:xfrm>
          <a:prstGeom prst="ellipse">
            <a:avLst/>
          </a:prstGeom>
          <a:solidFill>
            <a:srgbClr val="5B47B8"/>
          </a:solidFill>
          <a:ln w="38100">
            <a:solidFill>
              <a:srgbClr val="F8F9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1554480"/>
            <a:ext cx="365760" cy="365760"/>
          </a:xfrm>
          <a:prstGeom prst="ellipse">
            <a:avLst/>
          </a:prstGeom>
          <a:solidFill>
            <a:srgbClr val="5B47B8"/>
          </a:solidFill>
          <a:ln w="38100">
            <a:solidFill>
              <a:srgbClr val="F8F9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2560320" cy="15544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2194560"/>
            <a:ext cx="64008" cy="155448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3408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 support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26974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distress keyword libraries and acoustic training for Hindi, Hinglish and regional languages.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2194560"/>
            <a:ext cx="2560320" cy="15544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2194560"/>
            <a:ext cx="64008" cy="155448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7872" y="23408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dialer integration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547872" y="26974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model as a native Android dialer plugin or accessibility overlay.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2194560"/>
            <a:ext cx="2560320" cy="15544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16752" y="2194560"/>
            <a:ext cx="64008" cy="155448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1072" y="23408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 ping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6974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SMS another family member when an active call triggers a high-confidence scam alert.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question for scam protection.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5544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371600"/>
            <a:ext cx="64008" cy="155448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5179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87452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block more bad numbers, or scan call audio in the cloud?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→ Report → Block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371600"/>
            <a:ext cx="64008" cy="155448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9472" y="15179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VoiceGuard’s approach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919472" y="187452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phone itself could tell a voice is synthetic and the caller is demanding emergency money?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Two signals → Risk → Alert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" y="347472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67840" y="368046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3288" y="347472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923288" y="347472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check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42488" y="368046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7936" y="347472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297936" y="347472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check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17136" y="368046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347472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672584" y="347472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91784" y="368046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7232" y="347472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047232" y="347472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6432" y="3680460"/>
            <a:ext cx="109728" cy="274320"/>
          </a:xfrm>
          <a:prstGeom prst="chevron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21880" y="3474720"/>
            <a:ext cx="1173480" cy="685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21880" y="3474720"/>
            <a:ext cx="1173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back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LEAGUE  •  VoiceGuard  | 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4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hack smith  •  Syed Soban Warsi (Leader)  •  Aryansh Garg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63040" y="3383280"/>
            <a:ext cx="6217920" cy="82296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2E4EC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44752" y="3383280"/>
            <a:ext cx="64008" cy="822960"/>
          </a:xfrm>
          <a:prstGeom prst="rect">
            <a:avLst/>
          </a:prstGeom>
          <a:solidFill>
            <a:srgbClr val="5B47B8"/>
          </a:solidFill>
          <a:ln w="12700">
            <a:solidFill>
              <a:srgbClr val="5B47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19072" y="3474720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discussion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719072" y="374904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problem?  •  Why on-device?  •  What are the trade-offs?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989</Words>
  <Application>Microsoft Office PowerPoint</Application>
  <PresentationFormat>On-screen Show (16:9)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VoiceGuard</dc:title>
  <dc:subject>PptxGenJS Presentation</dc:subject>
  <dc:creator>PptxGenJS</dc:creator>
  <cp:lastModifiedBy>Aryansh Garg</cp:lastModifiedBy>
  <cp:revision>2</cp:revision>
  <dcterms:created xsi:type="dcterms:W3CDTF">2026-10-07T06:23:09Z</dcterms:created>
  <dcterms:modified xsi:type="dcterms:W3CDTF">2026-10-07T06:36:59Z</dcterms:modified>
</cp:coreProperties>
</file>